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222B"/>
          </a:solidFill>
          <a:ln w="12700">
            <a:solidFill>
              <a:srgbClr val="E82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109728"/>
            <a:ext cx="502920" cy="347472"/>
          </a:xfrm>
          <a:prstGeom prst="rect">
            <a:avLst/>
          </a:prstGeom>
          <a:solidFill>
            <a:srgbClr val="1C2D5C"/>
          </a:solidFill>
          <a:ln w="12700">
            <a:solidFill>
              <a:srgbClr val="1C2D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097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37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ANALYSE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Hardware-Typ ist der dominante Treiber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2468880" cy="1188720"/>
          </a:xfrm>
          <a:prstGeom prst="rect">
            <a:avLst/>
          </a:prstGeom>
          <a:solidFill>
            <a:srgbClr val="E8222B"/>
          </a:solidFill>
          <a:ln w="12700">
            <a:solidFill>
              <a:srgbClr val="E8222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2070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23.3%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177393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Varianz erklärt durch Hardware-Typ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87168"/>
            <a:ext cx="2468880" cy="1188720"/>
          </a:xfrm>
          <a:prstGeom prst="rect">
            <a:avLst/>
          </a:prstGeom>
          <a:solidFill>
            <a:srgbClr val="1C2D5C"/>
          </a:solidFill>
          <a:ln w="12700">
            <a:solidFill>
              <a:srgbClr val="1C2D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5511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0.38%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5760" y="311810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8C8"/>
                </a:solidFill>
              </a:rPr>
              <a:t>Temperatur (global)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831336"/>
            <a:ext cx="2468880" cy="960120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886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2D5C"/>
                </a:solidFill>
              </a:rPr>
              <a:t>3,77 Mio.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" y="43251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D5C"/>
                </a:solidFill>
              </a:rPr>
              <a:t>Stundenmessungen analysiert</a:t>
            </a:r>
            <a:endParaRPr lang="en-US" sz="1000" dirty="0"/>
          </a:p>
        </p:txBody>
      </p:sp>
      <p:pic>
        <p:nvPicPr>
          <p:cNvPr id="16" name="Image 0" descr="/sessions/confident-wizardly-davinci/mnt/participant_package/hardware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1078992"/>
            <a:ext cx="5760720" cy="379476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2D5C"/>
          </a:solidFill>
          <a:ln w="12700">
            <a:solidFill>
              <a:srgbClr val="1C2D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Schlüsselerkenntnis: Hardware-Typ erklärt mehr als 60× mehr Varianz als Temperatur — klarer Ausgangspunkt für die Segmentierung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1920240"/>
          </a:xfrm>
          <a:prstGeom prst="rect">
            <a:avLst/>
          </a:prstGeom>
          <a:solidFill>
            <a:srgbClr val="E8222B"/>
          </a:solidFill>
          <a:ln w="12700">
            <a:solidFill>
              <a:srgbClr val="E82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109728"/>
            <a:ext cx="502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097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D5C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222B"/>
                </a:solidFill>
              </a:rPr>
              <a:t>SEGMENTIERUNG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61 Segmente — stabile Flottenzusammensetzung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069080" cy="685800"/>
          </a:xfrm>
          <a:prstGeom prst="rect">
            <a:avLst/>
          </a:prstGeom>
          <a:solidFill>
            <a:srgbClr val="213570"/>
          </a:solidFill>
          <a:ln w="12700">
            <a:solidFill>
              <a:srgbClr val="2135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71600"/>
            <a:ext cx="64008" cy="685800"/>
          </a:xfrm>
          <a:prstGeom prst="rect">
            <a:avLst/>
          </a:prstGeom>
          <a:solidFill>
            <a:srgbClr val="E8222B"/>
          </a:solidFill>
          <a:ln w="12700">
            <a:solidFill>
              <a:srgbClr val="E82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Hardware-Typ  ×  Containergröße  ×  Stack-Tier  =  61 Segmente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249424"/>
            <a:ext cx="347472" cy="347472"/>
          </a:xfrm>
          <a:prstGeom prst="ellipse">
            <a:avLst/>
          </a:prstGeom>
          <a:solidFill>
            <a:srgbClr val="E8222B"/>
          </a:solidFill>
          <a:ln w="12700">
            <a:solidFill>
              <a:srgbClr val="E822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2128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13 Hardware-Typen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4688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8C8"/>
                </a:solidFill>
              </a:rPr>
              <a:t>SCC6, ML3, DecosVa/b, MP4000 u.a. — jeder Typ hat ein eigenes Verbrauchsprofil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962656"/>
            <a:ext cx="347472" cy="347472"/>
          </a:xfrm>
          <a:prstGeom prst="ellipse">
            <a:avLst/>
          </a:prstGeom>
          <a:solidFill>
            <a:srgbClr val="E8222B"/>
          </a:solidFill>
          <a:ln w="12700">
            <a:solidFill>
              <a:srgbClr val="E822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9260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20ft / 40ft / 45ft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1821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8C8"/>
                </a:solidFill>
              </a:rPr>
              <a:t>Containergröße als zweiter Faktor — relevant wo |r| &gt; 0.1 zur Tier-Korrelation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675888"/>
            <a:ext cx="347472" cy="347472"/>
          </a:xfrm>
          <a:prstGeom prst="ellipse">
            <a:avLst/>
          </a:prstGeom>
          <a:solidFill>
            <a:srgbClr val="E8222B"/>
          </a:solidFill>
          <a:ln w="12700">
            <a:solidFill>
              <a:srgbClr val="E822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6393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T1 / T2 / T3 split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89534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8C8"/>
                </a:solidFill>
              </a:rPr>
              <a:t>Stack-Tier nur wo signifikant (|r| &gt; 0.1) → 15 von 24 Basistypen aufgeteilt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315968"/>
            <a:ext cx="4069080" cy="685800"/>
          </a:xfrm>
          <a:prstGeom prst="rect">
            <a:avLst/>
          </a:prstGeom>
          <a:solidFill>
            <a:srgbClr val="E8222B"/>
          </a:solidFill>
          <a:ln w="12700">
            <a:solidFill>
              <a:srgbClr val="E822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315968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Flottenzusammensetzung variiert über 24h um &lt;0.1%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→ Segmentverteilung wird als konstant für 24h angenommen</a:t>
            </a:r>
            <a:endParaRPr lang="en-US" sz="1050" dirty="0"/>
          </a:p>
        </p:txBody>
      </p:sp>
      <p:pic>
        <p:nvPicPr>
          <p:cNvPr id="24" name="Image 0" descr="/sessions/confident-wizardly-davinci/mnt/participant_package/segments_24h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298448"/>
            <a:ext cx="42976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222B"/>
          </a:solidFill>
          <a:ln w="12700">
            <a:solidFill>
              <a:srgbClr val="E82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109728"/>
            <a:ext cx="502920" cy="347472"/>
          </a:xfrm>
          <a:prstGeom prst="rect">
            <a:avLst/>
          </a:prstGeom>
          <a:solidFill>
            <a:srgbClr val="1C2D5C"/>
          </a:solidFill>
          <a:ln w="12700">
            <a:solidFill>
              <a:srgbClr val="1C2D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097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37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MODELL &amp; ERGEBNIS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Einfaches Modell — starke Erklärbarkeit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2194560" cy="347472"/>
          </a:xfrm>
          <a:prstGeom prst="rect">
            <a:avLst/>
          </a:prstGeom>
          <a:solidFill>
            <a:srgbClr val="1C2D5C"/>
          </a:solidFill>
          <a:ln w="12700">
            <a:solidFill>
              <a:srgbClr val="1C2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789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PUNKT-PROGNOSE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426464"/>
            <a:ext cx="2194560" cy="2578608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81328"/>
            <a:ext cx="1920240" cy="2395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Rolling Carry-Forward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
Flottenverbrauch der Vorstunde wird direkt übernommen — kein Modell-Training nötig.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C2D5C"/>
                </a:solidFill>
              </a:rPr>
              <a:t>Warum das funktioniert: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Container-Mix und Einzelverbräuche sind von Stunde zu Stunde hoch stabil.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1078992"/>
            <a:ext cx="2194560" cy="347472"/>
          </a:xfrm>
          <a:prstGeom prst="rect">
            <a:avLst/>
          </a:prstGeom>
          <a:solidFill>
            <a:srgbClr val="E8222B"/>
          </a:solidFill>
          <a:ln w="12700">
            <a:solidFill>
              <a:srgbClr val="E82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0789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P90 OBERE SCHRANKE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1426464"/>
            <a:ext cx="2194560" cy="2578608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1481328"/>
            <a:ext cx="1920240" cy="2395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Mixed Effects Model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222B"/>
                </a:solidFill>
              </a:rPr>
              <a:t>61 Segmentmodelle: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Verbrauch ~ Temperatur + sin/cos(Stunde) + Zufallseffekt Container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C2D5C"/>
                </a:solidFill>
              </a:rPr>
              <a:t>Einsatz als P90: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max(Carry-Forward, Modell)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Modell greift wenn Temperatur/Tageszeit eine Spitze signalisieren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4133088"/>
            <a:ext cx="1417320" cy="914400"/>
          </a:xfrm>
          <a:prstGeom prst="rect">
            <a:avLst/>
          </a:prstGeom>
          <a:solidFill>
            <a:srgbClr val="E8222B"/>
          </a:solidFill>
          <a:ln w="12700">
            <a:solidFill>
              <a:srgbClr val="E822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16966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13.9 kW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0040" y="45902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MAE Punkt-Prognose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47914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1.6% der mitt. Flottenlast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74520" y="4133088"/>
            <a:ext cx="1417320" cy="914400"/>
          </a:xfrm>
          <a:prstGeom prst="rect">
            <a:avLst/>
          </a:prstGeom>
          <a:solidFill>
            <a:srgbClr val="1C2D5C"/>
          </a:solidFill>
          <a:ln w="12700">
            <a:solidFill>
              <a:srgbClr val="1C2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416966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53.56 kW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874520" y="45902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Combined Score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74520" y="47914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0.5×MAE + 0.3×Peak + 0.2×P90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29000" y="4133088"/>
            <a:ext cx="1417320" cy="914400"/>
          </a:xfrm>
          <a:prstGeom prst="rect">
            <a:avLst/>
          </a:prstGeom>
          <a:solidFill>
            <a:srgbClr val="1C2D5C"/>
          </a:solidFill>
          <a:ln w="12700">
            <a:solidFill>
              <a:srgbClr val="1C2D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416966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100%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429000" y="45902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P90 Abdeckung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29000" y="47914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alle 223 Ziel-Stunden</a:t>
            </a:r>
            <a:endParaRPr lang="en-US" sz="800" dirty="0"/>
          </a:p>
        </p:txBody>
      </p:sp>
      <p:pic>
        <p:nvPicPr>
          <p:cNvPr id="27" name="Image 0" descr="/sessions/confident-wizardly-davinci/mnt/participant_package/model_results/predicted_vs_actual_hour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051560"/>
            <a:ext cx="3931920" cy="3950208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2D5C"/>
          </a:solidFill>
          <a:ln w="12700">
            <a:solidFill>
              <a:srgbClr val="1C2D5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Eurogate — Reefer Peak Load Forecasting  |  April 2026  |  Levari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Reefer Peak Load Forecasting — Eurogate</dc:title>
  <dc:subject>PptxGenJS Presentation</dc:subject>
  <dc:creator>Levari</dc:creator>
  <cp:lastModifiedBy>Levari</cp:lastModifiedBy>
  <cp:revision>1</cp:revision>
  <dcterms:created xsi:type="dcterms:W3CDTF">2026-04-10T07:26:02Z</dcterms:created>
  <dcterms:modified xsi:type="dcterms:W3CDTF">2026-04-10T07:26:02Z</dcterms:modified>
</cp:coreProperties>
</file>